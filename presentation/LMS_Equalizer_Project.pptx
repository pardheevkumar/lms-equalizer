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5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01000" y="18288"/>
            <a:ext cx="4160520" cy="6821424"/>
          </a:xfrm>
          <a:prstGeom prst="rect">
            <a:avLst/>
          </a:prstGeom>
          <a:solidFill>
            <a:srgbClr val="2B5B8B"/>
          </a:solidFill>
          <a:ln w="10160">
            <a:solidFill>
              <a:srgbClr val="2B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23960" y="658368"/>
            <a:ext cx="3246120" cy="1874519"/>
          </a:xfrm>
          <a:prstGeom prst="roundRect">
            <a:avLst>
              <a:gd name="adj" fmla="val 12000"/>
            </a:avLst>
          </a:prstGeom>
          <a:solidFill>
            <a:srgbClr val="1C9991"/>
          </a:solidFill>
          <a:ln w="10160">
            <a:solidFill>
              <a:srgbClr val="1C9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23960" y="2761488"/>
            <a:ext cx="3246120" cy="1170432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 w="10160"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23960" y="4160520"/>
            <a:ext cx="3246120" cy="1444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749808"/>
            <a:ext cx="6309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C9991"/>
                </a:solidFill>
                <a:latin typeface="Aptos"/>
              </a:rPr>
              <a:t>AVD612  |  COURSE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54480"/>
            <a:ext cx="662940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LMS Linear
Equalizer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82112"/>
            <a:ext cx="653796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DDE6F0"/>
                </a:solidFill>
                <a:latin typeface="Aptos"/>
              </a:rPr>
              <a:t>A readable Python simulation of adaptive equalization in digital communications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10912"/>
            <a:ext cx="6217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1CFDE"/>
                </a:solidFill>
                <a:latin typeface="Aptos"/>
              </a:rPr>
              <a:t>Team: [add names]
Institute / course details: [fill in]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62288" y="932688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LMS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435608"/>
            <a:ext cx="2816352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w[n+1] = w[n] + μ x[n] e*[n]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2999232"/>
            <a:ext cx="269748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3253F"/>
                </a:solidFill>
                <a:latin typeface="Aptos"/>
              </a:rPr>
              <a:t>Learn weights
from known symbols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4425696"/>
            <a:ext cx="2697480" cy="8046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3253F"/>
                </a:solidFill>
                <a:latin typeface="Aptos"/>
              </a:rPr>
              <a:t>Measure BER, EVM,
and convergence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281928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C1CFDE"/>
                </a:solidFill>
                <a:latin typeface="Aptos"/>
              </a:rPr>
              <a:t>Starter deck — verify results and add your team’s own findings.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058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C9991"/>
                </a:solidFill>
                <a:latin typeface="Aptos"/>
              </a:rPr>
              <a:t>02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949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53F"/>
                </a:solidFill>
                <a:latin typeface="Aptos"/>
              </a:rPr>
              <a:t>The problem: intersymbol interference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6676"/>
                </a:solidFill>
                <a:latin typeface="Aptos"/>
              </a:rPr>
              <a:t>Multipath makes a received symbol contain energy from neighboring symbols.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64240" cy="22860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73352"/>
            <a:ext cx="6492240" cy="4434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589788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3253F"/>
                </a:solidFill>
                <a:latin typeface="Aptos"/>
              </a:rPr>
              <a:t>What happens in a real channel?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78608"/>
            <a:ext cx="2926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C9991"/>
                </a:solidFill>
                <a:latin typeface="Aptos"/>
              </a:rP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5" y="2578608"/>
            <a:ext cx="5477255" cy="6766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73342"/>
                </a:solidFill>
                <a:latin typeface="Aptos"/>
              </a:rPr>
              <a:t>A signal can arrive through multiple paths with different delays.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291839"/>
            <a:ext cx="2926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C9991"/>
                </a:solidFill>
                <a:latin typeface="Aptos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5" y="3291839"/>
            <a:ext cx="5477255" cy="6766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73342"/>
                </a:solidFill>
                <a:latin typeface="Aptos"/>
              </a:rPr>
              <a:t>The receiver observes the current symbol mixed with delayed copies.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005072"/>
            <a:ext cx="2926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C9991"/>
                </a:solidFill>
                <a:latin typeface="Aptos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5" y="4005072"/>
            <a:ext cx="5477255" cy="6766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73342"/>
                </a:solidFill>
                <a:latin typeface="Aptos"/>
              </a:rPr>
              <a:t>These delayed components cause intersymbol interference (ISI).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718304"/>
            <a:ext cx="2926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C9991"/>
                </a:solidFill>
                <a:latin typeface="Aptos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5" y="4718304"/>
            <a:ext cx="5477255" cy="6766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73342"/>
                </a:solidFill>
                <a:latin typeface="Aptos"/>
              </a:rPr>
              <a:t>The constellation spreads, making bit decisions less reliable.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673352"/>
            <a:ext cx="4224528" cy="1883664"/>
          </a:xfrm>
          <a:prstGeom prst="roundRect">
            <a:avLst>
              <a:gd name="adj" fmla="val 12000"/>
            </a:avLst>
          </a:prstGeom>
          <a:solidFill>
            <a:srgbClr val="E8F0F8"/>
          </a:solidFill>
          <a:ln w="10160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44383" y="1938528"/>
            <a:ext cx="3657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B5B8B"/>
                </a:solidFill>
                <a:latin typeface="Aptos"/>
              </a:rPr>
              <a:t>Simple channel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2432304"/>
            <a:ext cx="3822191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13253F"/>
                </a:solidFill>
                <a:latin typeface="Aptos"/>
              </a:rPr>
              <a:t>r[n] = Σ h[k] a[n−k] + v[n]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3822191"/>
            <a:ext cx="4224528" cy="2286000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 w="10160"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6096" y="4096512"/>
            <a:ext cx="3685032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C9991"/>
                </a:solidFill>
                <a:latin typeface="Aptos"/>
              </a:rPr>
              <a:t>The goal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4526280"/>
            <a:ext cx="3657600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3253F"/>
                </a:solidFill>
                <a:latin typeface="Aptos"/>
              </a:rPr>
              <a:t>Use recent received samples to estimate the intended transmitted symbol and reduce ISI.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519672"/>
            <a:ext cx="1106424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55624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96676"/>
                </a:solidFill>
                <a:latin typeface="Aptos"/>
              </a:rPr>
              <a:t>Concept: multipath FIR channel plus additive white Gaussian noise (AWGN)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537960"/>
            <a:ext cx="7132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667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058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C9991"/>
                </a:solidFill>
                <a:latin typeface="Aptos"/>
              </a:rPr>
              <a:t>03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949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53F"/>
                </a:solidFill>
                <a:latin typeface="Aptos"/>
              </a:rPr>
              <a:t>Where the equalizer 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6676"/>
                </a:solidFill>
                <a:latin typeface="Aptos"/>
              </a:rPr>
              <a:t>The simulation focuses on the receiver block, but includes a small transmitter and channel so it can be tested.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64240" cy="22860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240280"/>
            <a:ext cx="2359152" cy="1737360"/>
          </a:xfrm>
          <a:prstGeom prst="roundRect">
            <a:avLst>
              <a:gd name="adj" fmla="val 12000"/>
            </a:avLst>
          </a:prstGeom>
          <a:solidFill>
            <a:srgbClr val="E8F0F8"/>
          </a:solidFill>
          <a:ln w="10160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514600"/>
            <a:ext cx="213969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B5B8B"/>
                </a:solidFill>
                <a:latin typeface="Aptos"/>
              </a:rPr>
              <a:t>TRANSMITTER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907792"/>
            <a:ext cx="2139696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3253F"/>
                </a:solidFill>
                <a:latin typeface="Aptos"/>
              </a:rPr>
              <a:t>Bits → BPSK /
QPSK / 16-QAM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2240280"/>
            <a:ext cx="2359152" cy="1737360"/>
          </a:xfrm>
          <a:prstGeom prst="roundRect">
            <a:avLst>
              <a:gd name="adj" fmla="val 12000"/>
            </a:avLst>
          </a:prstGeom>
          <a:solidFill>
            <a:srgbClr val="E8F0F8"/>
          </a:solidFill>
          <a:ln w="10160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514600"/>
            <a:ext cx="213969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B5B8B"/>
                </a:solidFill>
                <a:latin typeface="Aptos"/>
              </a:rPr>
              <a:t>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907792"/>
            <a:ext cx="2139696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3253F"/>
                </a:solidFill>
                <a:latin typeface="Aptos"/>
              </a:rPr>
              <a:t>Multipath FIR
+ complex AWGN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2240280"/>
            <a:ext cx="2359152" cy="1737360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 w="10160"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514600"/>
            <a:ext cx="213969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C9991"/>
                </a:solidFill>
                <a:latin typeface="Aptos"/>
              </a:rPr>
              <a:t>LMS EQUALIZER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907792"/>
            <a:ext cx="2139696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3253F"/>
                </a:solidFill>
                <a:latin typeface="Aptos"/>
              </a:rPr>
              <a:t>Adaptive FIR
filter weights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2240280"/>
            <a:ext cx="2359152" cy="1737360"/>
          </a:xfrm>
          <a:prstGeom prst="roundRect">
            <a:avLst>
              <a:gd name="adj" fmla="val 12000"/>
            </a:avLst>
          </a:prstGeom>
          <a:solidFill>
            <a:srgbClr val="E8F0F8"/>
          </a:solidFill>
          <a:ln w="10160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2514600"/>
            <a:ext cx="213969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B5B8B"/>
                </a:solidFill>
                <a:latin typeface="Aptos"/>
              </a:rPr>
              <a:t>DETECTOR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9448" y="2907792"/>
            <a:ext cx="2139696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3253F"/>
                </a:solidFill>
                <a:latin typeface="Aptos"/>
              </a:rPr>
              <a:t>Nearest point →
estimated bits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35808" y="3090672"/>
            <a:ext cx="420624" cy="0"/>
          </a:xfrm>
          <a:prstGeom prst="line">
            <a:avLst/>
          </a:prstGeom>
          <a:ln w="31750">
            <a:solidFill>
              <a:srgbClr val="1C9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79592" y="3090672"/>
            <a:ext cx="420624" cy="0"/>
          </a:xfrm>
          <a:prstGeom prst="line">
            <a:avLst/>
          </a:prstGeom>
          <a:ln w="31750">
            <a:solidFill>
              <a:srgbClr val="1C9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23376" y="3090672"/>
            <a:ext cx="420624" cy="0"/>
          </a:xfrm>
          <a:prstGeom prst="line">
            <a:avLst/>
          </a:prstGeom>
          <a:ln w="31750">
            <a:solidFill>
              <a:srgbClr val="1C9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0120" y="4617720"/>
            <a:ext cx="102412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855464"/>
            <a:ext cx="969264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273342"/>
                </a:solidFill>
                <a:latin typeface="Aptos"/>
              </a:rPr>
              <a:t>Training: the receiver knows the reference symbols → computes error → updates the taps.
Testing: later symbols are compared with and without the equalizer.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519672"/>
            <a:ext cx="1106424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5624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96676"/>
                </a:solidFill>
                <a:latin typeface="Aptos"/>
              </a:rPr>
              <a:t>AVD612  |  LMS Equalizer  |  Educational simulation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37960"/>
            <a:ext cx="7132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667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058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C9991"/>
                </a:solidFill>
                <a:latin typeface="Aptos"/>
              </a:rPr>
              <a:t>04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949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53F"/>
                </a:solidFill>
                <a:latin typeface="Aptos"/>
              </a:rPr>
              <a:t>What the equalizer learns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6676"/>
                </a:solidFill>
                <a:latin typeface="Aptos"/>
              </a:rPr>
              <a:t>Each tap scales one received sample; the scaled samples combine to form one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64240" cy="22860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64208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3253F"/>
                </a:solidFill>
                <a:latin typeface="Aptos"/>
              </a:rPr>
              <a:t>Tap-delay line (conceptual view)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331720"/>
            <a:ext cx="1508760" cy="786384"/>
          </a:xfrm>
          <a:prstGeom prst="roundRect">
            <a:avLst>
              <a:gd name="adj" fmla="val 12000"/>
            </a:avLst>
          </a:prstGeom>
          <a:solidFill>
            <a:srgbClr val="E8F0F8"/>
          </a:solidFill>
          <a:ln w="10160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13624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3253F"/>
                </a:solidFill>
                <a:latin typeface="Aptos"/>
              </a:rPr>
              <a:t>r[n]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02152"/>
            <a:ext cx="136245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C9991"/>
                </a:solidFill>
                <a:latin typeface="Aptos"/>
              </a:rPr>
              <a:t>w₀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95628" y="3145536"/>
            <a:ext cx="0" cy="256032"/>
          </a:xfrm>
          <a:prstGeom prst="line">
            <a:avLst/>
          </a:prstGeom>
          <a:ln w="21590">
            <a:solidFill>
              <a:srgbClr val="1C9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88920" y="2331720"/>
            <a:ext cx="1508760" cy="786384"/>
          </a:xfrm>
          <a:prstGeom prst="roundRect">
            <a:avLst>
              <a:gd name="adj" fmla="val 12000"/>
            </a:avLst>
          </a:prstGeom>
          <a:solidFill>
            <a:srgbClr val="E8F0F8"/>
          </a:solidFill>
          <a:ln w="10160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2542032"/>
            <a:ext cx="13624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3253F"/>
                </a:solidFill>
                <a:latin typeface="Aptos"/>
              </a:rPr>
              <a:t>r[n−1]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3502152"/>
            <a:ext cx="136245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C9991"/>
                </a:solidFill>
                <a:latin typeface="Aptos"/>
              </a:rPr>
              <a:t>w₁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43300" y="3145536"/>
            <a:ext cx="0" cy="256032"/>
          </a:xfrm>
          <a:prstGeom prst="line">
            <a:avLst/>
          </a:prstGeom>
          <a:ln w="21590">
            <a:solidFill>
              <a:srgbClr val="1C9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736592" y="2331720"/>
            <a:ext cx="1508760" cy="786384"/>
          </a:xfrm>
          <a:prstGeom prst="roundRect">
            <a:avLst>
              <a:gd name="adj" fmla="val 12000"/>
            </a:avLst>
          </a:prstGeom>
          <a:solidFill>
            <a:srgbClr val="E8F0F8"/>
          </a:solidFill>
          <a:ln w="10160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4" y="2542032"/>
            <a:ext cx="13624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3253F"/>
                </a:solidFill>
                <a:latin typeface="Aptos"/>
              </a:rPr>
              <a:t>r[n−2]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3502152"/>
            <a:ext cx="136245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C9991"/>
                </a:solidFill>
                <a:latin typeface="Aptos"/>
              </a:rPr>
              <a:t>w₂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90972" y="3145536"/>
            <a:ext cx="0" cy="256032"/>
          </a:xfrm>
          <a:prstGeom prst="line">
            <a:avLst/>
          </a:prstGeom>
          <a:ln w="21590">
            <a:solidFill>
              <a:srgbClr val="1C9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684264" y="2331720"/>
            <a:ext cx="1508760" cy="786384"/>
          </a:xfrm>
          <a:prstGeom prst="roundRect">
            <a:avLst>
              <a:gd name="adj" fmla="val 12000"/>
            </a:avLst>
          </a:prstGeom>
          <a:solidFill>
            <a:srgbClr val="E8F0F8"/>
          </a:solidFill>
          <a:ln w="10160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57416" y="2542032"/>
            <a:ext cx="13624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3253F"/>
                </a:solidFill>
                <a:latin typeface="Aptos"/>
              </a:rPr>
              <a:t>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7416" y="3502152"/>
            <a:ext cx="136245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C9991"/>
                </a:solidFill>
                <a:latin typeface="Aptos"/>
              </a:rPr>
              <a:t>…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38644" y="3145536"/>
            <a:ext cx="0" cy="256032"/>
          </a:xfrm>
          <a:prstGeom prst="line">
            <a:avLst/>
          </a:prstGeom>
          <a:ln w="21590">
            <a:solidFill>
              <a:srgbClr val="1C9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631936" y="2331720"/>
            <a:ext cx="1508760" cy="786384"/>
          </a:xfrm>
          <a:prstGeom prst="roundRect">
            <a:avLst>
              <a:gd name="adj" fmla="val 12000"/>
            </a:avLst>
          </a:prstGeom>
          <a:solidFill>
            <a:srgbClr val="E8F0F8"/>
          </a:solidFill>
          <a:ln w="10160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05088" y="2542032"/>
            <a:ext cx="136245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3253F"/>
                </a:solidFill>
                <a:latin typeface="Aptos"/>
              </a:rPr>
              <a:t>r[n−M+1]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3502152"/>
            <a:ext cx="1362456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1C9991"/>
                </a:solidFill>
                <a:latin typeface="Aptos"/>
              </a:rPr>
              <a:t>wₘ₋₁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86315" y="3145536"/>
            <a:ext cx="0" cy="256032"/>
          </a:xfrm>
          <a:prstGeom prst="line">
            <a:avLst/>
          </a:prstGeom>
          <a:ln w="21590">
            <a:solidFill>
              <a:srgbClr val="1C9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369296" y="2377440"/>
            <a:ext cx="1161288" cy="138988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 w="10160"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60736" y="2624328"/>
            <a:ext cx="987552" cy="8046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13253F"/>
                </a:solidFill>
                <a:latin typeface="Aptos"/>
              </a:rPr>
              <a:t>Σ
→ y[n]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4251960"/>
            <a:ext cx="5257800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1" y="4480560"/>
            <a:ext cx="46817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B5B8B"/>
                </a:solidFill>
                <a:latin typeface="Aptos"/>
              </a:rPr>
              <a:t>Output equation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4919472"/>
            <a:ext cx="47548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13253F"/>
                </a:solidFill>
                <a:latin typeface="Aptos"/>
              </a:rPr>
              <a:t>y[n] = wᴴ[n] x[n]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251960"/>
            <a:ext cx="5257800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4480560"/>
            <a:ext cx="46817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9991"/>
                </a:solidFill>
                <a:latin typeface="Aptos"/>
              </a:rPr>
              <a:t>Interpretation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846320"/>
            <a:ext cx="47091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73342"/>
                </a:solidFill>
                <a:latin typeface="Aptos"/>
              </a:rPr>
              <a:t>LMS changes the weights when the output differs from the known training symbol.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519672"/>
            <a:ext cx="1106424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655624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96676"/>
                </a:solidFill>
                <a:latin typeface="Aptos"/>
              </a:rPr>
              <a:t>AVD612  |  LMS Equalizer  |  Educational simulation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35640" y="6537960"/>
            <a:ext cx="7132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667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058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C9991"/>
                </a:solidFill>
                <a:latin typeface="Aptos"/>
              </a:rPr>
              <a:t>05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949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53F"/>
                </a:solidFill>
                <a:latin typeface="Aptos"/>
              </a:rP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6676"/>
                </a:solidFill>
                <a:latin typeface="Aptos"/>
              </a:rPr>
              <a:t>The code uses complex baseband samples and a configurable decision delay.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64240" cy="22860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755648"/>
            <a:ext cx="52852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929384"/>
            <a:ext cx="4754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B5B8B"/>
                </a:solidFill>
                <a:latin typeface="Aptos"/>
              </a:rPr>
              <a:t>1.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4828032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3253F"/>
                </a:solidFill>
                <a:latin typeface="Aptos"/>
              </a:rPr>
              <a:t>r[n] = Σ h[k] a[n−k] + v[n]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825496"/>
            <a:ext cx="479145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6676"/>
                </a:solidFill>
                <a:latin typeface="Aptos"/>
              </a:rPr>
              <a:t>Multipath combines delayed transmitted symbols.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755648"/>
            <a:ext cx="52852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929384"/>
            <a:ext cx="4754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C9991"/>
                </a:solidFill>
                <a:latin typeface="Aptos"/>
              </a:rPr>
              <a:t>2. Equalizer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13432"/>
            <a:ext cx="4828032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3253F"/>
                </a:solidFill>
                <a:latin typeface="Aptos"/>
              </a:rPr>
              <a:t>x[n] = [r[n], r[n−1], …, r[n−M+1]]ᵀ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825496"/>
            <a:ext cx="479145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6676"/>
                </a:solidFill>
                <a:latin typeface="Aptos"/>
              </a:rPr>
              <a:t>M recent samples enter the adaptive filter.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94176"/>
            <a:ext cx="52852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867912"/>
            <a:ext cx="4754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B5B8B"/>
                </a:solidFill>
                <a:latin typeface="Aptos"/>
              </a:rPr>
              <a:t>3. Output and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4828032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3253F"/>
                </a:solidFill>
                <a:latin typeface="Aptos"/>
              </a:rPr>
              <a:t>y[n] = wᴴ[n]x[n]     d[n] = a[n−D]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764024"/>
            <a:ext cx="479145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6676"/>
                </a:solidFill>
                <a:latin typeface="Aptos"/>
              </a:rPr>
              <a:t>D aligns the output with the intended symbol.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36792" y="3694176"/>
            <a:ext cx="5285232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867912"/>
            <a:ext cx="4754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C9991"/>
                </a:solidFill>
                <a:latin typeface="Aptos"/>
              </a:rPr>
              <a:t>4. 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251960"/>
            <a:ext cx="4828032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3253F"/>
                </a:solidFill>
                <a:latin typeface="Aptos"/>
              </a:rPr>
              <a:t>e[n] = d[n] − y[n]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4764024"/>
            <a:ext cx="4791456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6676"/>
                </a:solidFill>
                <a:latin typeface="Aptos"/>
              </a:rPr>
              <a:t>Training error guides the weight adjustment.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24728"/>
            <a:ext cx="10515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6676"/>
                </a:solidFill>
                <a:latin typeface="Aptos"/>
              </a:rPr>
              <a:t>M = equalizer tap count  |  μ = LMS step size  |  * = complex conjugate  |  H = conjugate transpose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519672"/>
            <a:ext cx="1106424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55624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96676"/>
                </a:solidFill>
                <a:latin typeface="Aptos"/>
              </a:rPr>
              <a:t>Theory reference: Haykin, Adaptive Filter Theory; GNU Radio Linear Equalizer documentation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37960"/>
            <a:ext cx="7132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667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058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C9991"/>
                </a:solidFill>
                <a:latin typeface="Aptos"/>
              </a:rPr>
              <a:t>06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949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53F"/>
                </a:solidFill>
                <a:latin typeface="Aptos"/>
              </a:rPr>
              <a:t>LMS: the adaptive update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6676"/>
                </a:solidFill>
                <a:latin typeface="Aptos"/>
              </a:rPr>
              <a:t>LMS uses each error as a small correction, instead of solving for the optimal weights in one step.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64240" cy="22860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755648"/>
            <a:ext cx="6720840" cy="1965960"/>
          </a:xfrm>
          <a:prstGeom prst="roundRect">
            <a:avLst>
              <a:gd name="adj" fmla="val 12000"/>
            </a:avLst>
          </a:prstGeom>
          <a:solidFill>
            <a:srgbClr val="13253F"/>
          </a:solidFill>
          <a:ln w="10160">
            <a:solidFill>
              <a:srgbClr val="13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630936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1F5F2"/>
                </a:solidFill>
                <a:latin typeface="Aptos"/>
              </a:rPr>
              <a:t>Complex LMS update used by this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551176"/>
            <a:ext cx="6291072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w[n+1] = w[n] + μ x[n] e*[n]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10128"/>
            <a:ext cx="6080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CADAE6"/>
                </a:solidFill>
                <a:latin typeface="Aptos"/>
              </a:rPr>
              <a:t>Output → error → weight update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755648"/>
            <a:ext cx="3547872" cy="4096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65008" y="1993392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 w="10160"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3" y="2075688"/>
            <a:ext cx="4023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C9991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1993392"/>
            <a:ext cx="231343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53F"/>
                </a:solidFill>
                <a:latin typeface="Aptos"/>
              </a:rPr>
              <a:t>Predict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2267712"/>
            <a:ext cx="232257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6676"/>
                </a:solidFill>
                <a:latin typeface="Aptos"/>
              </a:rPr>
              <a:t>Compute y[n] from current weights.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907792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 w="10160"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1583" y="2990088"/>
            <a:ext cx="4023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C9991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2907792"/>
            <a:ext cx="231343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53F"/>
                </a:solidFill>
                <a:latin typeface="Aptos"/>
              </a:rPr>
              <a:t>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3182112"/>
            <a:ext cx="232257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6676"/>
                </a:solidFill>
                <a:latin typeface="Aptos"/>
              </a:rPr>
              <a:t>e[n] = desired − estimated symbol.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3822191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 w="10160"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01583" y="3904487"/>
            <a:ext cx="4023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C9991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3822191"/>
            <a:ext cx="231343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53F"/>
                </a:solidFill>
                <a:latin typeface="Aptos"/>
              </a:rPr>
              <a:t>Correct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4096511"/>
            <a:ext cx="232257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6676"/>
                </a:solidFill>
                <a:latin typeface="Aptos"/>
              </a:rPr>
              <a:t>Update all taps using μ and the error.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8" y="4736592"/>
            <a:ext cx="475488" cy="47548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 w="10160"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01583" y="4818888"/>
            <a:ext cx="40233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C9991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4736592"/>
            <a:ext cx="231343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253F"/>
                </a:solidFill>
                <a:latin typeface="Aptos"/>
              </a:rPr>
              <a:t>Repeat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088" y="5010912"/>
            <a:ext cx="2322576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96676"/>
                </a:solidFill>
                <a:latin typeface="Aptos"/>
              </a:rPr>
              <a:t>Continue over the known training symbols.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4096512"/>
            <a:ext cx="6720840" cy="1746504"/>
          </a:xfrm>
          <a:prstGeom prst="roundRect">
            <a:avLst>
              <a:gd name="adj" fmla="val 12000"/>
            </a:avLst>
          </a:prstGeom>
          <a:solidFill>
            <a:srgbClr val="E8F0F8"/>
          </a:solidFill>
          <a:ln w="10160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2415" y="4361688"/>
            <a:ext cx="612648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B5B8B"/>
                </a:solidFill>
                <a:latin typeface="Aptos"/>
              </a:rPr>
              <a:t>Choosing μ (step size)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773168"/>
            <a:ext cx="6108192" cy="7955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3253F"/>
                </a:solidFill>
                <a:latin typeface="Aptos"/>
              </a:rPr>
              <a:t>Too large: fast changes but possible oscillation/divergence.
Too small: slower learning; may need more training symbols.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519672"/>
            <a:ext cx="1106424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55624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96676"/>
                </a:solidFill>
                <a:latin typeface="Aptos"/>
              </a:rPr>
              <a:t>The implementation uses wᴴx and therefore updates weights with x · conjugate(error).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35640" y="6537960"/>
            <a:ext cx="7132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6676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058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C9991"/>
                </a:solidFill>
                <a:latin typeface="Aptos"/>
              </a:rPr>
              <a:t>07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949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53F"/>
                </a:solidFill>
                <a:latin typeface="Aptos"/>
              </a:rPr>
              <a:t>Readable code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6676"/>
                </a:solidFill>
                <a:latin typeface="Aptos"/>
              </a:rPr>
              <a:t>Each Python module has one main responsibility so a student can inspect one idea at a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64240" cy="22860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764792"/>
            <a:ext cx="5193792" cy="1069848"/>
          </a:xfrm>
          <a:prstGeom prst="roundRect">
            <a:avLst>
              <a:gd name="adj" fmla="val 12000"/>
            </a:avLst>
          </a:prstGeom>
          <a:solidFill>
            <a:srgbClr val="E8F0F8"/>
          </a:solidFill>
          <a:ln w="10160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9384"/>
            <a:ext cx="4736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B5B8B"/>
                </a:solidFill>
                <a:latin typeface="Aptos"/>
              </a:rPr>
              <a:t>modulation.py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76856"/>
            <a:ext cx="4718304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73342"/>
                </a:solidFill>
                <a:latin typeface="Aptos"/>
              </a:rPr>
              <a:t>Bits ↔ BPSK, QPSK, 16-QAM symbols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64792"/>
            <a:ext cx="5193792" cy="1069848"/>
          </a:xfrm>
          <a:prstGeom prst="roundRect">
            <a:avLst>
              <a:gd name="adj" fmla="val 12000"/>
            </a:avLst>
          </a:prstGeom>
          <a:solidFill>
            <a:srgbClr val="E8F0F8"/>
          </a:solidFill>
          <a:ln w="10160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1929384"/>
            <a:ext cx="4736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B5B8B"/>
                </a:solidFill>
                <a:latin typeface="Aptos"/>
              </a:rPr>
              <a:t>channel.py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276856"/>
            <a:ext cx="4718304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73342"/>
                </a:solidFill>
                <a:latin typeface="Aptos"/>
              </a:rPr>
              <a:t>FIR multipath plus AWGN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182112"/>
            <a:ext cx="5193792" cy="106984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 w="10160"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46704"/>
            <a:ext cx="4736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9991"/>
                </a:solidFill>
                <a:latin typeface="Aptos"/>
              </a:rPr>
              <a:t>equalizer.py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94176"/>
            <a:ext cx="4718304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73342"/>
                </a:solidFill>
                <a:latin typeface="Aptos"/>
              </a:rPr>
              <a:t>LMS output, error, and tap updates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182112"/>
            <a:ext cx="5193792" cy="1069848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 w="10160"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3346704"/>
            <a:ext cx="4736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9991"/>
                </a:solidFill>
                <a:latin typeface="Aptos"/>
              </a:rPr>
              <a:t>simulation.py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3694176"/>
            <a:ext cx="4718304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73342"/>
                </a:solidFill>
                <a:latin typeface="Aptos"/>
              </a:rPr>
              <a:t>Training/test split, BER, EVM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599432"/>
            <a:ext cx="5193792" cy="1069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64024"/>
            <a:ext cx="4736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B5B8B"/>
                </a:solidFill>
                <a:latin typeface="Aptos"/>
              </a:rPr>
              <a:t>plotting.py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11496"/>
            <a:ext cx="4718304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73342"/>
                </a:solidFill>
                <a:latin typeface="Aptos"/>
              </a:rPr>
              <a:t>Constellation, learning curve, BER sweep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599432"/>
            <a:ext cx="5193792" cy="1069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4764024"/>
            <a:ext cx="47365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C9991"/>
                </a:solidFill>
                <a:latin typeface="Aptos"/>
              </a:rPr>
              <a:t>tests/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5111496"/>
            <a:ext cx="4718304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73342"/>
                </a:solidFill>
                <a:latin typeface="Aptos"/>
              </a:rPr>
              <a:t>Automated checks for math and behavior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519672"/>
            <a:ext cx="1106424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55624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96676"/>
                </a:solidFill>
                <a:latin typeface="Aptos"/>
              </a:rPr>
              <a:t>Run checks with: python -m unittest discover -s tests -v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6537960"/>
            <a:ext cx="7132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6676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058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C9991"/>
                </a:solidFill>
                <a:latin typeface="Aptos"/>
              </a:rPr>
              <a:t>08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949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53F"/>
                </a:solidFill>
                <a:latin typeface="Aptos"/>
              </a:rPr>
              <a:t>What the default experiment 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6676"/>
                </a:solidFill>
                <a:latin typeface="Aptos"/>
              </a:rPr>
              <a:t>Example run: QPSK, 20 dB SNR, 12,000 symbols, 9 taps, μ = 0.01, 60% training.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64240" cy="22860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554480"/>
            <a:ext cx="5440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2B5B8B"/>
                </a:solidFill>
                <a:latin typeface="Aptos"/>
              </a:rPr>
              <a:t>Training error falls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9632" y="155448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C9991"/>
                </a:solidFill>
                <a:latin typeface="Aptos"/>
              </a:rPr>
              <a:t>Constellation tightens</a:t>
            </a:r>
          </a:p>
        </p:txBody>
      </p:sp>
      <p:pic>
        <p:nvPicPr>
          <p:cNvPr id="8" name="Picture 7" descr="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74519"/>
            <a:ext cx="5440680" cy="3063240"/>
          </a:xfrm>
          <a:prstGeom prst="rect">
            <a:avLst/>
          </a:prstGeom>
        </p:spPr>
      </p:pic>
      <p:pic>
        <p:nvPicPr>
          <p:cNvPr id="9" name="Picture 8" descr="constellatio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874519"/>
            <a:ext cx="5330952" cy="30632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4672" y="5193792"/>
            <a:ext cx="10570464" cy="731520"/>
          </a:xfrm>
          <a:prstGeom prst="roundRect">
            <a:avLst>
              <a:gd name="adj" fmla="val 12000"/>
            </a:avLst>
          </a:prstGeom>
          <a:solidFill>
            <a:srgbClr val="E1F5F2"/>
          </a:solidFill>
          <a:ln w="10160">
            <a:solidFill>
              <a:srgbClr val="E1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5376672"/>
            <a:ext cx="101041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3253F"/>
                </a:solidFill>
                <a:latin typeface="Aptos"/>
              </a:rPr>
              <a:t>Interpretation: LMS learns a filter that reduces the channel distortion on this test case; the clusters are closer to their ideal points.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519672"/>
            <a:ext cx="1106424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55624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96676"/>
                </a:solidFill>
                <a:latin typeface="Aptos"/>
              </a:rPr>
              <a:t>Figures are generated by the included Python code; reproduce them from your final version before presenting.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5640" y="6537960"/>
            <a:ext cx="7132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6676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058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C9991"/>
                </a:solidFill>
                <a:latin typeface="Aptos"/>
              </a:rPr>
              <a:t>09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949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53F"/>
                </a:solidFill>
                <a:latin typeface="Aptos"/>
              </a:rPr>
              <a:t>Performance: BER and EVM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6676"/>
                </a:solidFill>
                <a:latin typeface="Aptos"/>
              </a:rPr>
              <a:t>Results are specific to the stated seed, channel, SNR, modulation and training setup.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64240" cy="22860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er_vs_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709928"/>
            <a:ext cx="6812280" cy="4069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71231" y="1764792"/>
            <a:ext cx="3886200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45552" y="1993392"/>
            <a:ext cx="3337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3253F"/>
                </a:solidFill>
                <a:latin typeface="Aptos"/>
              </a:rPr>
              <a:t>Default run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27264" y="2423160"/>
            <a:ext cx="3401568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C9991"/>
                </a:solidFill>
                <a:latin typeface="Aptos"/>
              </a:rPr>
              <a:t>BER:  0.003857 → 0 observed
EVM:  0.4454 → 0.1358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3931920"/>
            <a:ext cx="3886200" cy="1810512"/>
          </a:xfrm>
          <a:prstGeom prst="roundRect">
            <a:avLst>
              <a:gd name="adj" fmla="val 12000"/>
            </a:avLst>
          </a:prstGeom>
          <a:solidFill>
            <a:srgbClr val="E8F0F8"/>
          </a:solidFill>
          <a:ln w="10160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4160520"/>
            <a:ext cx="333756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B5B8B"/>
                </a:solidFill>
                <a:latin typeface="Aptos"/>
              </a:rPr>
              <a:t>Important to say aloud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4572000"/>
            <a:ext cx="3310128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3253F"/>
                </a:solidFill>
                <a:latin typeface="Aptos"/>
              </a:rPr>
              <a:t>Zero errors in one finite test packet means zero observed BER here, not that the true BER is mathematically zero.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934456"/>
            <a:ext cx="10607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6676"/>
                </a:solidFill>
                <a:latin typeface="Aptos"/>
              </a:rPr>
              <a:t>The SNR sweep measures a finite number of bits per point; expand --sweep-symbols for smoother estimates.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519672"/>
            <a:ext cx="1106424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5624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96676"/>
                </a:solidFill>
                <a:latin typeface="Aptos"/>
              </a:rPr>
              <a:t>AVD612  |  LMS Equalizer  |  Educational simulation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537960"/>
            <a:ext cx="7132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6676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56032"/>
            <a:ext cx="100584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C9991"/>
                </a:solidFill>
                <a:latin typeface="Aptos"/>
              </a:rPr>
              <a:t>10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9496"/>
            <a:ext cx="11064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3253F"/>
                </a:solidFill>
                <a:latin typeface="Aptos"/>
              </a:rPr>
              <a:t>Takeaways, limitations,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96676"/>
                </a:solidFill>
                <a:latin typeface="Aptos"/>
              </a:rPr>
              <a:t>A good demonstration explains both where the algorithm works and where this simplified model stops.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89888"/>
            <a:ext cx="11064240" cy="22860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55648"/>
            <a:ext cx="525780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4663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C9991"/>
                </a:solidFill>
                <a:latin typeface="Aptos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2926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C9991"/>
                </a:solidFill>
                <a:latin typeface="Aptos"/>
              </a:rPr>
              <a:t>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2532888"/>
            <a:ext cx="4288536" cy="7406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73342"/>
                </a:solidFill>
                <a:latin typeface="Aptos"/>
              </a:rPr>
              <a:t>LMS adjusts FIR weights from the measured training error.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310128"/>
            <a:ext cx="2926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C9991"/>
                </a:solidFill>
                <a:latin typeface="Aptos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3310128"/>
            <a:ext cx="4288536" cy="7406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73342"/>
                </a:solidFill>
                <a:latin typeface="Aptos"/>
              </a:rPr>
              <a:t>Step size, training length, tap count, and decision delay matter.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087368"/>
            <a:ext cx="2926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C9991"/>
                </a:solidFill>
                <a:latin typeface="Aptos"/>
              </a:rPr>
              <a:t>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4087368"/>
            <a:ext cx="4288536" cy="7406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73342"/>
                </a:solidFill>
                <a:latin typeface="Aptos"/>
              </a:rPr>
              <a:t>BER and EVM quantify different parts of receiver performance.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755648"/>
            <a:ext cx="5257800" cy="3611880"/>
          </a:xfrm>
          <a:prstGeom prst="roundRect">
            <a:avLst>
              <a:gd name="adj" fmla="val 12000"/>
            </a:avLst>
          </a:prstGeom>
          <a:solidFill>
            <a:srgbClr val="E8F0F8"/>
          </a:solidFill>
          <a:ln w="10160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1993392"/>
            <a:ext cx="4663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B5B8B"/>
                </a:solidFill>
                <a:latin typeface="Aptos"/>
              </a:rPr>
              <a:t>Limitations and next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532888"/>
            <a:ext cx="2926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B5B8B"/>
                </a:solidFill>
                <a:latin typeface="Aptos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2532888"/>
            <a:ext cx="4242816" cy="7406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73342"/>
                </a:solidFill>
                <a:latin typeface="Aptos"/>
              </a:rPr>
              <a:t>Symbol-spaced model; no timing or carrier recovery.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310128"/>
            <a:ext cx="2926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B5B8B"/>
                </a:solidFill>
                <a:latin typeface="Aptos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3310128"/>
            <a:ext cx="4242816" cy="7406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73342"/>
                </a:solidFill>
                <a:latin typeface="Aptos"/>
              </a:rPr>
              <a:t>No pulse shaping, real RF front end, or hardware measurements.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087368"/>
            <a:ext cx="29260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B5B8B"/>
                </a:solidFill>
                <a:latin typeface="Aptos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4087368"/>
            <a:ext cx="4242816" cy="7406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73342"/>
                </a:solidFill>
                <a:latin typeface="Aptos"/>
              </a:rPr>
              <a:t>Compare several μ values, tap counts, modulations, and training fractions.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5614416"/>
            <a:ext cx="9720072" cy="502920"/>
          </a:xfrm>
          <a:prstGeom prst="roundRect">
            <a:avLst>
              <a:gd name="adj" fmla="val 12000"/>
            </a:avLst>
          </a:prstGeom>
          <a:solidFill>
            <a:srgbClr val="13253F"/>
          </a:solidFill>
          <a:ln w="10160">
            <a:solidFill>
              <a:srgbClr val="13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5724144"/>
            <a:ext cx="9372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Viva check: explain y[n], e[n], the LMS update, and the conjugate in your own words.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519672"/>
            <a:ext cx="1106424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556248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96676"/>
                </a:solidFill>
                <a:latin typeface="Aptos"/>
              </a:rPr>
              <a:t>Further reading: Haykin, Adaptive Filter Theory; GNU Radio Linear Equalizer / Adaptive Algorithm wiki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6537960"/>
            <a:ext cx="71323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667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